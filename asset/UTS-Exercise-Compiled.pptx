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9" r:id="rId4"/>
    <p:sldId id="264" r:id="rId5"/>
    <p:sldId id="274" r:id="rId6"/>
    <p:sldId id="275" r:id="rId7"/>
    <p:sldId id="277" r:id="rId8"/>
    <p:sldId id="266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4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1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1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0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7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2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6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7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5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8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52725-021D-4CF9-AE16-A1266BA1913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7E3D9-14BF-4278-A02E-CB61275B4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Aptos" panose="020B0004020202020204" pitchFamily="34" charset="0"/>
              </a:rPr>
              <a:t>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281125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Aptos" panose="020B0004020202020204" pitchFamily="34" charset="0"/>
              </a:rPr>
              <a:t>Essai</a:t>
            </a:r>
          </a:p>
        </p:txBody>
      </p:sp>
    </p:spTree>
    <p:extLst>
      <p:ext uri="{BB962C8B-B14F-4D97-AF65-F5344CB8AC3E}">
        <p14:creationId xmlns:p14="http://schemas.microsoft.com/office/powerpoint/2010/main" val="130389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6" y="499049"/>
            <a:ext cx="11185236" cy="4449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err="1">
                <a:latin typeface="Aptos" panose="020B0004020202020204" pitchFamily="34" charset="0"/>
              </a:rPr>
              <a:t>Uraikan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setiap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tahap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utama</a:t>
            </a:r>
            <a:r>
              <a:rPr lang="en-US" dirty="0">
                <a:latin typeface="Aptos" panose="020B0004020202020204" pitchFamily="34" charset="0"/>
              </a:rPr>
              <a:t> pada </a:t>
            </a:r>
            <a:r>
              <a:rPr lang="en-US" i="1" dirty="0">
                <a:latin typeface="Aptos" panose="020B0004020202020204" pitchFamily="34" charset="0"/>
              </a:rPr>
              <a:t>Instruction Cycle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beserta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fungsi</a:t>
            </a:r>
            <a:r>
              <a:rPr lang="en-US" dirty="0">
                <a:latin typeface="Aptos" panose="020B0004020202020204" pitchFamily="34" charset="0"/>
              </a:rPr>
              <a:t> register yang </a:t>
            </a:r>
            <a:r>
              <a:rPr lang="en-US" dirty="0" err="1">
                <a:latin typeface="Aptos" panose="020B0004020202020204" pitchFamily="34" charset="0"/>
              </a:rPr>
              <a:t>berperan</a:t>
            </a:r>
            <a:r>
              <a:rPr lang="en-US" dirty="0">
                <a:latin typeface="Aptos" panose="020B0004020202020204" pitchFamily="34" charset="0"/>
              </a:rPr>
              <a:t> dalam </a:t>
            </a:r>
            <a:r>
              <a:rPr lang="en-US" dirty="0" err="1">
                <a:latin typeface="Aptos" panose="020B0004020202020204" pitchFamily="34" charset="0"/>
              </a:rPr>
              <a:t>tiap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tahapnya</a:t>
            </a:r>
            <a:endParaRPr lang="en-US" dirty="0"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err="1">
                <a:latin typeface="Aptos" panose="020B0004020202020204" pitchFamily="34" charset="0"/>
              </a:rPr>
              <a:t>Bandingkan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perbedaan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i="1" dirty="0">
                <a:latin typeface="Aptos" panose="020B0004020202020204" pitchFamily="34" charset="0"/>
              </a:rPr>
              <a:t>instruction cycle</a:t>
            </a:r>
            <a:r>
              <a:rPr lang="en-US" dirty="0">
                <a:latin typeface="Aptos" panose="020B0004020202020204" pitchFamily="34" charset="0"/>
              </a:rPr>
              <a:t> pada </a:t>
            </a:r>
            <a:r>
              <a:rPr lang="en-US" dirty="0" err="1">
                <a:latin typeface="Aptos" panose="020B0004020202020204" pitchFamily="34" charset="0"/>
              </a:rPr>
              <a:t>arsitektur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i="1" dirty="0">
                <a:latin typeface="Aptos" panose="020B0004020202020204" pitchFamily="34" charset="0"/>
              </a:rPr>
              <a:t>single-core</a:t>
            </a:r>
            <a:r>
              <a:rPr lang="en-US" dirty="0">
                <a:latin typeface="Aptos" panose="020B0004020202020204" pitchFamily="34" charset="0"/>
              </a:rPr>
              <a:t> dan </a:t>
            </a:r>
            <a:r>
              <a:rPr lang="en-US" i="1" dirty="0">
                <a:latin typeface="Aptos" panose="020B0004020202020204" pitchFamily="34" charset="0"/>
              </a:rPr>
              <a:t>multi-core</a:t>
            </a:r>
            <a:r>
              <a:rPr lang="en-US" dirty="0">
                <a:latin typeface="Aptos" panose="020B0004020202020204" pitchFamily="34" charset="0"/>
              </a:rPr>
              <a:t> dalam </a:t>
            </a:r>
            <a:r>
              <a:rPr lang="en-US" dirty="0" err="1">
                <a:latin typeface="Aptos" panose="020B0004020202020204" pitchFamily="34" charset="0"/>
              </a:rPr>
              <a:t>konteks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paralelisme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instruksi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err="1">
                <a:latin typeface="Aptos" panose="020B0004020202020204" pitchFamily="34" charset="0"/>
              </a:rPr>
              <a:t>Bandingkan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perbedaan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antara</a:t>
            </a:r>
            <a:r>
              <a:rPr lang="en-US" dirty="0">
                <a:latin typeface="Aptos" panose="020B0004020202020204" pitchFamily="34" charset="0"/>
              </a:rPr>
              <a:t> proses yang </a:t>
            </a:r>
            <a:r>
              <a:rPr lang="en-US" dirty="0" err="1">
                <a:latin typeface="Aptos" panose="020B0004020202020204" pitchFamily="34" charset="0"/>
              </a:rPr>
              <a:t>disuspend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karena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swapping</a:t>
            </a:r>
            <a:r>
              <a:rPr lang="en-US" dirty="0">
                <a:latin typeface="Aptos" panose="020B0004020202020204" pitchFamily="34" charset="0"/>
              </a:rPr>
              <a:t> dan proses yang </a:t>
            </a:r>
            <a:r>
              <a:rPr lang="en-US" dirty="0" err="1">
                <a:latin typeface="Aptos" panose="020B0004020202020204" pitchFamily="34" charset="0"/>
              </a:rPr>
              <a:t>disuspend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karena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interactive user request</a:t>
            </a:r>
            <a:r>
              <a:rPr lang="en-US" dirty="0">
                <a:latin typeface="Aptos" panose="020B0004020202020204" pitchFamily="34" charset="0"/>
              </a:rPr>
              <a:t> — </a:t>
            </a:r>
            <a:r>
              <a:rPr lang="en-US" dirty="0" err="1">
                <a:latin typeface="Aptos" panose="020B0004020202020204" pitchFamily="34" charset="0"/>
              </a:rPr>
              <a:t>dari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u="sng" dirty="0" err="1">
                <a:latin typeface="Aptos" panose="020B0004020202020204" pitchFamily="34" charset="0"/>
              </a:rPr>
              <a:t>sisi</a:t>
            </a:r>
            <a:r>
              <a:rPr lang="en-US" u="sng" dirty="0">
                <a:latin typeface="Aptos" panose="020B0004020202020204" pitchFamily="34" charset="0"/>
              </a:rPr>
              <a:t> </a:t>
            </a:r>
            <a:r>
              <a:rPr lang="en-US" u="sng" dirty="0" err="1">
                <a:latin typeface="Aptos" panose="020B0004020202020204" pitchFamily="34" charset="0"/>
              </a:rPr>
              <a:t>tujuan</a:t>
            </a:r>
            <a:r>
              <a:rPr lang="en-US" u="sng"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dan </a:t>
            </a:r>
            <a:r>
              <a:rPr lang="en-US" u="sng" dirty="0" err="1">
                <a:latin typeface="Aptos" panose="020B0004020202020204" pitchFamily="34" charset="0"/>
              </a:rPr>
              <a:t>dampaknya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terhadap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performa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sistem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err="1">
                <a:latin typeface="Aptos" panose="020B0004020202020204" pitchFamily="34" charset="0"/>
              </a:rPr>
              <a:t>Mengapa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penggunaan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i="1" dirty="0">
                <a:latin typeface="Aptos" panose="020B0004020202020204" pitchFamily="34" charset="0"/>
              </a:rPr>
              <a:t>multithreading</a:t>
            </a:r>
            <a:r>
              <a:rPr lang="en-US" dirty="0">
                <a:latin typeface="Aptos" panose="020B0004020202020204" pitchFamily="34" charset="0"/>
              </a:rPr>
              <a:t> dapat </a:t>
            </a:r>
            <a:r>
              <a:rPr lang="en-US" dirty="0" err="1">
                <a:latin typeface="Aptos" panose="020B0004020202020204" pitchFamily="34" charset="0"/>
              </a:rPr>
              <a:t>meningkatkan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efisiensi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kinerja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aplikasi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dibandingkan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penggunaan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banyak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i="1" dirty="0">
                <a:latin typeface="Aptos" panose="020B0004020202020204" pitchFamily="34" charset="0"/>
              </a:rPr>
              <a:t>process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terpisah</a:t>
            </a:r>
            <a:r>
              <a:rPr lang="en-US" dirty="0">
                <a:latin typeface="Aptos" panose="020B0004020202020204" pitchFamily="34" charset="0"/>
              </a:rPr>
              <a:t>? </a:t>
            </a:r>
            <a:r>
              <a:rPr lang="en-US" dirty="0" err="1">
                <a:solidFill>
                  <a:srgbClr val="FF0000"/>
                </a:solidFill>
                <a:latin typeface="Aptos" panose="020B0004020202020204" pitchFamily="34" charset="0"/>
              </a:rPr>
              <a:t>Jelaskan</a:t>
            </a:r>
            <a:r>
              <a:rPr lang="en-US" dirty="0">
                <a:solidFill>
                  <a:srgbClr val="FF0000"/>
                </a:solidFill>
                <a:latin typeface="Aptos" panose="020B0004020202020204" pitchFamily="34" charset="0"/>
              </a:rPr>
              <a:t> dengan </a:t>
            </a:r>
            <a:r>
              <a:rPr lang="en-US" dirty="0" err="1">
                <a:solidFill>
                  <a:srgbClr val="FF0000"/>
                </a:solidFill>
                <a:latin typeface="Aptos" panose="020B0004020202020204" pitchFamily="34" charset="0"/>
              </a:rPr>
              <a:t>contoh</a:t>
            </a:r>
            <a:r>
              <a:rPr lang="en-US" dirty="0">
                <a:solidFill>
                  <a:srgbClr val="FF0000"/>
                </a:solidFill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9081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6" y="499049"/>
            <a:ext cx="11185236" cy="500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 startAt="5"/>
            </a:pPr>
            <a:r>
              <a:rPr lang="en-US">
                <a:latin typeface="Aptos" panose="020B0004020202020204" pitchFamily="34" charset="0"/>
              </a:rPr>
              <a:t>Jelaskan perbedaan mendasar antara </a:t>
            </a:r>
            <a:r>
              <a:rPr lang="en-US" b="1">
                <a:latin typeface="Aptos" panose="020B0004020202020204" pitchFamily="34" charset="0"/>
              </a:rPr>
              <a:t>preemptive scheduling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b="1">
                <a:latin typeface="Aptos" panose="020B0004020202020204" pitchFamily="34" charset="0"/>
              </a:rPr>
              <a:t>non-preemptive scheduling!</a:t>
            </a:r>
            <a:r>
              <a:rPr lang="en-US">
                <a:latin typeface="Aptos" panose="020B0004020202020204" pitchFamily="34" charset="0"/>
              </a:rPr>
              <a:t> Dalam kondisi apa pendekatan </a:t>
            </a:r>
            <a:r>
              <a:rPr lang="en-US">
                <a:solidFill>
                  <a:srgbClr val="FF0000"/>
                </a:solidFill>
                <a:latin typeface="Aptos" panose="020B0004020202020204" pitchFamily="34" charset="0"/>
              </a:rPr>
              <a:t>preemptive </a:t>
            </a:r>
            <a:r>
              <a:rPr lang="en-US">
                <a:latin typeface="Aptos" panose="020B0004020202020204" pitchFamily="34" charset="0"/>
              </a:rPr>
              <a:t>lebih disarankan digunakan?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5"/>
            </a:pPr>
            <a:r>
              <a:rPr lang="en-US">
                <a:latin typeface="Aptos" panose="020B0004020202020204" pitchFamily="34" charset="0"/>
              </a:rPr>
              <a:t>Jelaskan perbedaan antara </a:t>
            </a:r>
            <a:r>
              <a:rPr lang="en-US" b="1">
                <a:latin typeface="Aptos" panose="020B0004020202020204" pitchFamily="34" charset="0"/>
              </a:rPr>
              <a:t>concurrency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b="1">
                <a:latin typeface="Aptos" panose="020B0004020202020204" pitchFamily="34" charset="0"/>
              </a:rPr>
              <a:t>parallelism</a:t>
            </a:r>
            <a:r>
              <a:rPr lang="en-US">
                <a:latin typeface="Aptos" panose="020B0004020202020204" pitchFamily="34" charset="0"/>
              </a:rPr>
              <a:t> dalam sistem operasi modern. Berikan contoh kasus nyata di mana concurrency digunakan tanpa benar-benar menjalankan proses secara paralel.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5"/>
            </a:pPr>
            <a:r>
              <a:rPr lang="en-US">
                <a:latin typeface="Aptos" panose="020B0004020202020204" pitchFamily="34" charset="0"/>
              </a:rPr>
              <a:t>Definisikan </a:t>
            </a:r>
            <a:r>
              <a:rPr lang="en-US" b="1">
                <a:latin typeface="Aptos" panose="020B0004020202020204" pitchFamily="34" charset="0"/>
              </a:rPr>
              <a:t>critical section problem</a:t>
            </a:r>
            <a:r>
              <a:rPr lang="en-US">
                <a:latin typeface="Aptos" panose="020B0004020202020204" pitchFamily="34" charset="0"/>
              </a:rPr>
              <a:t>, dan jelaskan tiga kondisi utama (</a:t>
            </a:r>
            <a:r>
              <a:rPr lang="en-US" i="1">
                <a:latin typeface="Aptos" panose="020B0004020202020204" pitchFamily="34" charset="0"/>
              </a:rPr>
              <a:t>mutual exclusion, progress,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i="1">
                <a:latin typeface="Aptos" panose="020B0004020202020204" pitchFamily="34" charset="0"/>
              </a:rPr>
              <a:t>bounded waiting</a:t>
            </a:r>
            <a:r>
              <a:rPr lang="en-US">
                <a:latin typeface="Aptos" panose="020B0004020202020204" pitchFamily="34" charset="0"/>
              </a:rPr>
              <a:t>) yang harus dipenuhi agar solusi concurrency dinilai benar.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5"/>
            </a:pPr>
            <a:r>
              <a:rPr lang="en-US">
                <a:latin typeface="Aptos" panose="020B0004020202020204" pitchFamily="34" charset="0"/>
              </a:rPr>
              <a:t>Sebutkan dan jelaskan perbedaan antara </a:t>
            </a:r>
            <a:r>
              <a:rPr lang="en-US" b="1">
                <a:latin typeface="Aptos" panose="020B0004020202020204" pitchFamily="34" charset="0"/>
              </a:rPr>
              <a:t>busy waiting (spinlock)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b="1">
                <a:latin typeface="Aptos" panose="020B0004020202020204" pitchFamily="34" charset="0"/>
              </a:rPr>
              <a:t>blocking synchronization (mutex/semaphore)</a:t>
            </a:r>
            <a:r>
              <a:rPr lang="en-US">
                <a:latin typeface="Aptos" panose="020B0004020202020204" pitchFamily="34" charset="0"/>
              </a:rPr>
              <a:t> dalam mengelola resource bersama. Kapan penggunaan spinlock lebih tepat dibanding mutex?</a:t>
            </a:r>
            <a:endParaRPr lang="en-US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48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6" y="499049"/>
            <a:ext cx="11185236" cy="500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 startAt="9"/>
            </a:pPr>
            <a:r>
              <a:rPr lang="en-US">
                <a:latin typeface="Aptos" panose="020B0004020202020204" pitchFamily="34" charset="0"/>
              </a:rPr>
              <a:t>Berikan contoh situasi </a:t>
            </a:r>
            <a:r>
              <a:rPr lang="en-US" i="1">
                <a:latin typeface="Aptos" panose="020B0004020202020204" pitchFamily="34" charset="0"/>
              </a:rPr>
              <a:t>race condition</a:t>
            </a:r>
            <a:r>
              <a:rPr lang="en-US">
                <a:latin typeface="Aptos" panose="020B0004020202020204" pitchFamily="34" charset="0"/>
              </a:rPr>
              <a:t> dalam program multithread sederhana (misalnya sistem tiket atau counter bersama). Kemudian jelaskan dua cara berbeda untuk menghindarinya!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9"/>
            </a:pPr>
            <a:r>
              <a:rPr lang="en-US">
                <a:latin typeface="Aptos" panose="020B0004020202020204" pitchFamily="34" charset="0"/>
              </a:rPr>
              <a:t>Gambarkan bagaimana konsep </a:t>
            </a:r>
            <a:r>
              <a:rPr lang="en-US" b="1">
                <a:latin typeface="Aptos" panose="020B0004020202020204" pitchFamily="34" charset="0"/>
              </a:rPr>
              <a:t>Producer–Consumer Problem</a:t>
            </a:r>
            <a:r>
              <a:rPr lang="en-US">
                <a:latin typeface="Aptos" panose="020B0004020202020204" pitchFamily="34" charset="0"/>
              </a:rPr>
              <a:t> bekerja pada sistem multithread. Jelaskan peran </a:t>
            </a:r>
            <a:r>
              <a:rPr lang="en-US" i="1">
                <a:latin typeface="Aptos" panose="020B0004020202020204" pitchFamily="34" charset="0"/>
              </a:rPr>
              <a:t>buffer</a:t>
            </a:r>
            <a:r>
              <a:rPr lang="en-US">
                <a:latin typeface="Aptos" panose="020B0004020202020204" pitchFamily="34" charset="0"/>
              </a:rPr>
              <a:t>, </a:t>
            </a:r>
            <a:r>
              <a:rPr lang="en-US" i="1">
                <a:latin typeface="Aptos" panose="020B0004020202020204" pitchFamily="34" charset="0"/>
              </a:rPr>
              <a:t>mutex</a:t>
            </a:r>
            <a:r>
              <a:rPr lang="en-US">
                <a:latin typeface="Aptos" panose="020B0004020202020204" pitchFamily="34" charset="0"/>
              </a:rPr>
              <a:t>, dan </a:t>
            </a:r>
            <a:r>
              <a:rPr lang="en-US" i="1">
                <a:latin typeface="Aptos" panose="020B0004020202020204" pitchFamily="34" charset="0"/>
              </a:rPr>
              <a:t>semaphore</a:t>
            </a:r>
            <a:r>
              <a:rPr lang="en-US">
                <a:latin typeface="Aptos" panose="020B0004020202020204" pitchFamily="34" charset="0"/>
              </a:rPr>
              <a:t> dalam menghindari konflik data antar thread!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9"/>
            </a:pPr>
            <a:r>
              <a:rPr lang="en-US">
                <a:latin typeface="Aptos" panose="020B0004020202020204" pitchFamily="34" charset="0"/>
              </a:rPr>
              <a:t>Sebutkan dan jelaskan </a:t>
            </a:r>
            <a:r>
              <a:rPr lang="en-US" b="1">
                <a:latin typeface="Aptos" panose="020B0004020202020204" pitchFamily="34" charset="0"/>
              </a:rPr>
              <a:t>empat kondisi utama</a:t>
            </a:r>
            <a:r>
              <a:rPr lang="en-US">
                <a:latin typeface="Aptos" panose="020B0004020202020204" pitchFamily="34" charset="0"/>
              </a:rPr>
              <a:t> yang menyebabkan terjadinya deadlock menurut </a:t>
            </a:r>
            <a:r>
              <a:rPr lang="en-US" i="1">
                <a:latin typeface="Aptos" panose="020B0004020202020204" pitchFamily="34" charset="0"/>
              </a:rPr>
              <a:t>Coffman conditions</a:t>
            </a:r>
            <a:r>
              <a:rPr lang="en-US">
                <a:latin typeface="Aptos" panose="020B0004020202020204" pitchFamily="34" charset="0"/>
              </a:rPr>
              <a:t>. Berikan contoh sistem nyata di mana keempat kondisi tersebut terpenuhi</a:t>
            </a:r>
            <a:r>
              <a:rPr lang="en-US">
                <a:solidFill>
                  <a:srgbClr val="FF0000"/>
                </a:solidFill>
                <a:latin typeface="Aptos" panose="020B0004020202020204" pitchFamily="34" charset="0"/>
              </a:rPr>
              <a:t>!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9"/>
            </a:pPr>
            <a:r>
              <a:rPr lang="en-US">
                <a:latin typeface="Aptos" panose="020B0004020202020204" pitchFamily="34" charset="0"/>
              </a:rPr>
              <a:t>Bandingkan pendekatan </a:t>
            </a:r>
            <a:r>
              <a:rPr lang="en-US" b="1">
                <a:latin typeface="Aptos" panose="020B0004020202020204" pitchFamily="34" charset="0"/>
              </a:rPr>
              <a:t>deadlock prevention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b="1">
                <a:latin typeface="Aptos" panose="020B0004020202020204" pitchFamily="34" charset="0"/>
              </a:rPr>
              <a:t>deadlock avoidance</a:t>
            </a:r>
            <a:r>
              <a:rPr lang="en-US">
                <a:latin typeface="Aptos" panose="020B0004020202020204" pitchFamily="34" charset="0"/>
              </a:rPr>
              <a:t> dari sisi strategi, efisiensi, dan kompleksitas implementasi. Dalam konteks sistem database, pendekatan mana yang lebih realistis digunakan dan mengapa?</a:t>
            </a:r>
          </a:p>
        </p:txBody>
      </p:sp>
    </p:spTree>
    <p:extLst>
      <p:ext uri="{BB962C8B-B14F-4D97-AF65-F5344CB8AC3E}">
        <p14:creationId xmlns:p14="http://schemas.microsoft.com/office/powerpoint/2010/main" val="262527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6" y="499049"/>
            <a:ext cx="1118523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 startAt="13"/>
            </a:pPr>
            <a:r>
              <a:rPr lang="en-US">
                <a:latin typeface="Aptos" panose="020B0004020202020204" pitchFamily="34" charset="0"/>
              </a:rPr>
              <a:t>Jelaskan bagaimana </a:t>
            </a:r>
            <a:r>
              <a:rPr lang="en-US" b="1">
                <a:latin typeface="Aptos" panose="020B0004020202020204" pitchFamily="34" charset="0"/>
              </a:rPr>
              <a:t>Resource Allocation Graph (RAG)</a:t>
            </a:r>
            <a:r>
              <a:rPr lang="en-US">
                <a:latin typeface="Aptos" panose="020B0004020202020204" pitchFamily="34" charset="0"/>
              </a:rPr>
              <a:t> digunakan untuk mendeteksi kemungkinan deadlock. Berikan contoh kecil (dengan 2 proses dan 2 resource) dan jelaskan langkah mendeteksi siklus.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3"/>
            </a:pPr>
            <a:r>
              <a:rPr lang="en-US">
                <a:latin typeface="Aptos" panose="020B0004020202020204" pitchFamily="34" charset="0"/>
              </a:rPr>
              <a:t>Uraikan tahapan dalam </a:t>
            </a:r>
            <a:r>
              <a:rPr lang="en-US" b="1">
                <a:latin typeface="Aptos" panose="020B0004020202020204" pitchFamily="34" charset="0"/>
              </a:rPr>
              <a:t>daur hidup thread (thread lifecycle)</a:t>
            </a:r>
            <a:r>
              <a:rPr lang="en-US">
                <a:latin typeface="Aptos" panose="020B0004020202020204" pitchFamily="34" charset="0"/>
              </a:rPr>
              <a:t> mulai dari pembuatan hingga terminasi. Sertakan juga penjelasan peran </a:t>
            </a:r>
            <a:r>
              <a:rPr lang="en-US" b="1">
                <a:latin typeface="Aptos" panose="020B0004020202020204" pitchFamily="34" charset="0"/>
              </a:rPr>
              <a:t>thread scheduler</a:t>
            </a:r>
            <a:r>
              <a:rPr lang="en-US">
                <a:latin typeface="Aptos" panose="020B0004020202020204" pitchFamily="34" charset="0"/>
              </a:rPr>
              <a:t> dalam menentukan thread mana yang akan dijalankan.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3"/>
            </a:pPr>
            <a:r>
              <a:rPr lang="en-US">
                <a:latin typeface="Aptos" panose="020B0004020202020204" pitchFamily="34" charset="0"/>
              </a:rPr>
              <a:t>Meskipun multithreading meningkatkan kinerja aplikasi, terkadang juga menyebabkan </a:t>
            </a:r>
            <a:r>
              <a:rPr lang="en-US" b="1">
                <a:latin typeface="Aptos" panose="020B0004020202020204" pitchFamily="34" charset="0"/>
              </a:rPr>
              <a:t>overhead</a:t>
            </a:r>
            <a:r>
              <a:rPr lang="en-US">
                <a:latin typeface="Aptos" panose="020B0004020202020204" pitchFamily="34" charset="0"/>
              </a:rPr>
              <a:t> atau </a:t>
            </a:r>
            <a:r>
              <a:rPr lang="en-US" b="1">
                <a:latin typeface="Aptos" panose="020B0004020202020204" pitchFamily="34" charset="0"/>
              </a:rPr>
              <a:t>race hazard</a:t>
            </a:r>
            <a:r>
              <a:rPr lang="en-US">
                <a:latin typeface="Aptos" panose="020B0004020202020204" pitchFamily="34" charset="0"/>
              </a:rPr>
              <a:t>. Jelaskan dua faktor yang menyebabkan performa multithread justru menurun, dan berikan contoh skenario aplikasinya.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6"/>
            </a:pPr>
            <a:r>
              <a:rPr lang="en-US">
                <a:latin typeface="Aptos" panose="020B0004020202020204" pitchFamily="34" charset="0"/>
              </a:rPr>
              <a:t>Jelaskan bagaimana </a:t>
            </a:r>
            <a:r>
              <a:rPr lang="en-US" b="1">
                <a:latin typeface="Aptos" panose="020B0004020202020204" pitchFamily="34" charset="0"/>
              </a:rPr>
              <a:t>algoritma Banker’s</a:t>
            </a:r>
            <a:r>
              <a:rPr lang="en-US">
                <a:latin typeface="Aptos" panose="020B0004020202020204" pitchFamily="34" charset="0"/>
              </a:rPr>
              <a:t> bekerja dalam mencegah terjadinya deadlock.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Gunakan contoh sederhana dengan 3 proses dan 3 jenis resource untuk menjelaskan langkah-langkahnya.</a:t>
            </a:r>
          </a:p>
        </p:txBody>
      </p:sp>
    </p:spTree>
    <p:extLst>
      <p:ext uri="{BB962C8B-B14F-4D97-AF65-F5344CB8AC3E}">
        <p14:creationId xmlns:p14="http://schemas.microsoft.com/office/powerpoint/2010/main" val="342888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6" y="499049"/>
            <a:ext cx="11185236" cy="495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 startAt="17"/>
            </a:pPr>
            <a:r>
              <a:rPr lang="en-US" sz="1600">
                <a:latin typeface="Aptos" panose="020B0004020202020204" pitchFamily="34" charset="0"/>
              </a:rPr>
              <a:t>Apa yang dimaksud dengan </a:t>
            </a:r>
            <a:r>
              <a:rPr lang="en-US" sz="1600" b="1">
                <a:latin typeface="Aptos" panose="020B0004020202020204" pitchFamily="34" charset="0"/>
              </a:rPr>
              <a:t>safe state</a:t>
            </a:r>
            <a:r>
              <a:rPr lang="en-US" sz="1600">
                <a:latin typeface="Aptos" panose="020B0004020202020204" pitchFamily="34" charset="0"/>
              </a:rPr>
              <a:t> dan </a:t>
            </a:r>
            <a:r>
              <a:rPr lang="en-US" sz="1600" b="1">
                <a:latin typeface="Aptos" panose="020B0004020202020204" pitchFamily="34" charset="0"/>
              </a:rPr>
              <a:t>unsafe state</a:t>
            </a:r>
            <a:r>
              <a:rPr lang="en-US" sz="1600">
                <a:latin typeface="Aptos" panose="020B0004020202020204" pitchFamily="34" charset="0"/>
              </a:rPr>
              <a:t> dalam konteks </a:t>
            </a:r>
            <a:r>
              <a:rPr lang="en-US" sz="1600" i="1">
                <a:latin typeface="Aptos" panose="020B0004020202020204" pitchFamily="34" charset="0"/>
              </a:rPr>
              <a:t>deadlock avoidance</a:t>
            </a:r>
            <a:r>
              <a:rPr lang="en-US" sz="1600">
                <a:latin typeface="Aptos" panose="020B0004020202020204" pitchFamily="34" charset="0"/>
              </a:rPr>
              <a:t>?</a:t>
            </a:r>
            <a:br>
              <a:rPr lang="en-US" sz="1600">
                <a:latin typeface="Aptos" panose="020B0004020202020204" pitchFamily="34" charset="0"/>
              </a:rPr>
            </a:br>
            <a:r>
              <a:rPr lang="en-US" sz="1600">
                <a:latin typeface="Aptos" panose="020B0004020202020204" pitchFamily="34" charset="0"/>
              </a:rPr>
              <a:t>Apakah sistem yang berada pada </a:t>
            </a:r>
            <a:r>
              <a:rPr lang="en-US" sz="1600" i="1">
                <a:latin typeface="Aptos" panose="020B0004020202020204" pitchFamily="34" charset="0"/>
              </a:rPr>
              <a:t>unsafe state</a:t>
            </a:r>
            <a:r>
              <a:rPr lang="en-US" sz="1600">
                <a:latin typeface="Aptos" panose="020B0004020202020204" pitchFamily="34" charset="0"/>
              </a:rPr>
              <a:t> selalu berarti sedang mengalami deadlock? Jelaskan dengan contoh.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7"/>
            </a:pPr>
            <a:r>
              <a:rPr lang="en-US" sz="1600">
                <a:latin typeface="Aptos" panose="020B0004020202020204" pitchFamily="34" charset="0"/>
              </a:rPr>
              <a:t>Sebuah sistem operasi tidak menerapkan algoritma Banker’s karena dianggap mahal secara komputasi. Sebagai pengembang OS, strategi apa yang dapat Anda gunakan untuk </a:t>
            </a:r>
            <a:r>
              <a:rPr lang="en-US" sz="1600" b="1">
                <a:latin typeface="Aptos" panose="020B0004020202020204" pitchFamily="34" charset="0"/>
              </a:rPr>
              <a:t>menghindari deadlock secara heuristik</a:t>
            </a:r>
            <a:r>
              <a:rPr lang="en-US" sz="1600">
                <a:latin typeface="Aptos" panose="020B0004020202020204" pitchFamily="34" charset="0"/>
              </a:rPr>
              <a:t>, tanpa menggunakan perhitungan resource secara eksplisit?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7"/>
            </a:pPr>
            <a:r>
              <a:rPr lang="en-US" sz="1600">
                <a:latin typeface="Aptos" panose="020B0004020202020204" pitchFamily="34" charset="0"/>
              </a:rPr>
              <a:t>Setelah deadlock terdeteksi, sebutkan </a:t>
            </a:r>
            <a:r>
              <a:rPr lang="en-US" sz="1600" b="1">
                <a:latin typeface="Aptos" panose="020B0004020202020204" pitchFamily="34" charset="0"/>
              </a:rPr>
              <a:t>dua strategi pemulihan (recovery)</a:t>
            </a:r>
            <a:r>
              <a:rPr lang="en-US" sz="1600">
                <a:latin typeface="Aptos" panose="020B0004020202020204" pitchFamily="34" charset="0"/>
              </a:rPr>
              <a:t> yang dapat dilakukan oleh sistem operasi. Jelaskan kelebihan dan kelemahan masing-masing strategi, terutama pada sistem real-time.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7"/>
            </a:pPr>
            <a:r>
              <a:rPr lang="en-US" sz="1600">
                <a:latin typeface="Aptos" panose="020B0004020202020204" pitchFamily="34" charset="0"/>
              </a:rPr>
              <a:t>Jelaskan bagaimana prinsip </a:t>
            </a:r>
            <a:r>
              <a:rPr lang="en-US" sz="1600" b="1">
                <a:latin typeface="Aptos" panose="020B0004020202020204" pitchFamily="34" charset="0"/>
              </a:rPr>
              <a:t>hold and wait</a:t>
            </a:r>
            <a:r>
              <a:rPr lang="en-US" sz="1600">
                <a:latin typeface="Aptos" panose="020B0004020202020204" pitchFamily="34" charset="0"/>
              </a:rPr>
              <a:t> dapat menyebabkan deadlock. Kemudian, berikan solusi yang dapat mencegah kondisi tersebut tanpa mengorbankan efisiensi sistem.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 startAt="17"/>
            </a:pPr>
            <a:r>
              <a:rPr lang="en-US" sz="1600">
                <a:latin typeface="Aptos" panose="020B0004020202020204" pitchFamily="34" charset="0"/>
              </a:rPr>
              <a:t>Jelaskan fungsi dari Program Counter (PC), Accumulator (AC), dan Instruction Register (IR) pada CPU Register.</a:t>
            </a:r>
          </a:p>
        </p:txBody>
      </p:sp>
    </p:spTree>
    <p:extLst>
      <p:ext uri="{BB962C8B-B14F-4D97-AF65-F5344CB8AC3E}">
        <p14:creationId xmlns:p14="http://schemas.microsoft.com/office/powerpoint/2010/main" val="1938966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Aptos" panose="020B0004020202020204" pitchFamily="34" charset="0"/>
              </a:rPr>
              <a:t>CASES</a:t>
            </a:r>
          </a:p>
        </p:txBody>
      </p:sp>
    </p:spTree>
    <p:extLst>
      <p:ext uri="{BB962C8B-B14F-4D97-AF65-F5344CB8AC3E}">
        <p14:creationId xmlns:p14="http://schemas.microsoft.com/office/powerpoint/2010/main" val="2274851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8835" y="970105"/>
            <a:ext cx="111852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Sebuah sistem operasi menggunakan </a:t>
            </a:r>
            <a:r>
              <a:rPr lang="en-US" sz="1600" i="1">
                <a:latin typeface="Aptos" panose="020B0004020202020204" pitchFamily="34" charset="0"/>
              </a:rPr>
              <a:t>Buddy System</a:t>
            </a:r>
            <a:r>
              <a:rPr lang="en-US" sz="1600">
                <a:latin typeface="Aptos" panose="020B0004020202020204" pitchFamily="34" charset="0"/>
              </a:rPr>
              <a:t> dengan total memori sebesar </a:t>
            </a:r>
            <a:r>
              <a:rPr lang="en-US" sz="1600" b="1">
                <a:latin typeface="Aptos" panose="020B0004020202020204" pitchFamily="34" charset="0"/>
              </a:rPr>
              <a:t>1024 KB</a:t>
            </a:r>
            <a:r>
              <a:rPr lang="en-US" sz="1600">
                <a:latin typeface="Aptos" panose="020B0004020202020204" pitchFamily="34" charset="0"/>
              </a:rPr>
              <a:t>. Ukuran blok minimum yang dapat dialokasikan adalah </a:t>
            </a:r>
            <a:r>
              <a:rPr lang="en-US" sz="1600" b="1">
                <a:latin typeface="Aptos" panose="020B0004020202020204" pitchFamily="34" charset="0"/>
              </a:rPr>
              <a:t>64 KB</a:t>
            </a:r>
            <a:r>
              <a:rPr lang="en-US" sz="1600">
                <a:latin typeface="Aptos" panose="020B0004020202020204" pitchFamily="34" charset="0"/>
              </a:rPr>
              <a:t>.</a:t>
            </a:r>
            <a:br>
              <a:rPr lang="en-US" sz="1600">
                <a:latin typeface="Aptos" panose="020B0004020202020204" pitchFamily="34" charset="0"/>
              </a:rPr>
            </a:br>
            <a:r>
              <a:rPr lang="en-US" sz="1600">
                <a:latin typeface="Aptos" panose="020B0004020202020204" pitchFamily="34" charset="0"/>
              </a:rPr>
              <a:t>Tiga proses datang secara berurutan dengan kebutuhan memori sebagai berikut:</a:t>
            </a: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P1 = 200 KB</a:t>
            </a:r>
            <a:endParaRPr lang="en-US" sz="1600">
              <a:latin typeface="Aptos" panose="020B0004020202020204" pitchFamily="34" charset="0"/>
            </a:endParaRP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P2 = 100 KB</a:t>
            </a:r>
            <a:endParaRPr lang="en-US" sz="1600">
              <a:latin typeface="Aptos" panose="020B0004020202020204" pitchFamily="34" charset="0"/>
            </a:endParaRP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P3 = 300 KB</a:t>
            </a:r>
            <a:endParaRPr lang="en-US" sz="160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>
                <a:latin typeface="Aptos" panose="020B0004020202020204" pitchFamily="34" charset="0"/>
              </a:rPr>
              <a:t>Pertanyaan:</a:t>
            </a:r>
            <a:endParaRPr lang="en-US" sz="1600"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Tunjukkan langkah-langkah proses pembagian (</a:t>
            </a:r>
            <a:r>
              <a:rPr lang="en-US" sz="1600" i="1">
                <a:latin typeface="Aptos" panose="020B0004020202020204" pitchFamily="34" charset="0"/>
              </a:rPr>
              <a:t>splitting</a:t>
            </a:r>
            <a:r>
              <a:rPr lang="en-US" sz="1600">
                <a:latin typeface="Aptos" panose="020B0004020202020204" pitchFamily="34" charset="0"/>
              </a:rPr>
              <a:t>) dan penggabungan (</a:t>
            </a:r>
            <a:r>
              <a:rPr lang="en-US" sz="1600" i="1">
                <a:latin typeface="Aptos" panose="020B0004020202020204" pitchFamily="34" charset="0"/>
              </a:rPr>
              <a:t>coalescing</a:t>
            </a:r>
            <a:r>
              <a:rPr lang="en-US" sz="1600">
                <a:latin typeface="Aptos" panose="020B0004020202020204" pitchFamily="34" charset="0"/>
              </a:rPr>
              <a:t>) blok yang dilakukan oleh </a:t>
            </a:r>
            <a:r>
              <a:rPr lang="en-US" sz="1600" i="1">
                <a:latin typeface="Aptos" panose="020B0004020202020204" pitchFamily="34" charset="0"/>
              </a:rPr>
              <a:t>Buddy System</a:t>
            </a:r>
            <a:r>
              <a:rPr lang="en-US" sz="1600">
                <a:latin typeface="Aptos" panose="020B0004020202020204" pitchFamily="34" charset="0"/>
              </a:rPr>
              <a:t> selama alokasi ketiga proses tersebut. Gambarkan hasil pembagian blok pada setiap tahap.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Jika proses </a:t>
            </a:r>
            <a:r>
              <a:rPr lang="en-US" sz="1600" b="1">
                <a:latin typeface="Aptos" panose="020B0004020202020204" pitchFamily="34" charset="0"/>
              </a:rPr>
              <a:t>P2</a:t>
            </a:r>
            <a:r>
              <a:rPr lang="en-US" sz="1600">
                <a:latin typeface="Aptos" panose="020B0004020202020204" pitchFamily="34" charset="0"/>
              </a:rPr>
              <a:t> selesai dan memori dilepaskan, jelaskan bagaimana mekanisme </a:t>
            </a:r>
            <a:r>
              <a:rPr lang="en-US" sz="1600" i="1">
                <a:latin typeface="Aptos" panose="020B0004020202020204" pitchFamily="34" charset="0"/>
              </a:rPr>
              <a:t>Buddy System</a:t>
            </a:r>
            <a:r>
              <a:rPr lang="en-US" sz="1600">
                <a:latin typeface="Aptos" panose="020B0004020202020204" pitchFamily="34" charset="0"/>
              </a:rPr>
              <a:t> menggabungkan kembali blok (merge) agar efisiensi memori tetap terjaga.</a:t>
            </a:r>
          </a:p>
        </p:txBody>
      </p:sp>
    </p:spTree>
    <p:extLst>
      <p:ext uri="{BB962C8B-B14F-4D97-AF65-F5344CB8AC3E}">
        <p14:creationId xmlns:p14="http://schemas.microsoft.com/office/powerpoint/2010/main" val="70328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8835" y="970105"/>
            <a:ext cx="11185236" cy="44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Sebuah </a:t>
            </a:r>
            <a:r>
              <a:rPr lang="en-US" sz="1600" b="1">
                <a:latin typeface="Aptos" panose="020B0004020202020204" pitchFamily="34" charset="0"/>
              </a:rPr>
              <a:t>server universitas</a:t>
            </a:r>
            <a:r>
              <a:rPr lang="en-US" sz="1600">
                <a:latin typeface="Aptos" panose="020B0004020202020204" pitchFamily="34" charset="0"/>
              </a:rPr>
              <a:t> menjalankan tiga jenis layanan penting secara bersamaan:</a:t>
            </a:r>
          </a:p>
          <a:p>
            <a:pPr marL="72072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Web Server</a:t>
            </a:r>
            <a:r>
              <a:rPr lang="en-US" sz="1600">
                <a:latin typeface="Aptos" panose="020B0004020202020204" pitchFamily="34" charset="0"/>
              </a:rPr>
              <a:t> (melayani permintaan mahasiswa)</a:t>
            </a:r>
          </a:p>
          <a:p>
            <a:pPr marL="72072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Database Server</a:t>
            </a:r>
            <a:r>
              <a:rPr lang="en-US" sz="1600">
                <a:latin typeface="Aptos" panose="020B0004020202020204" pitchFamily="34" charset="0"/>
              </a:rPr>
              <a:t> (melayani query transaksi akademik)</a:t>
            </a:r>
          </a:p>
          <a:p>
            <a:pPr marL="72072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Backup Service</a:t>
            </a:r>
            <a:r>
              <a:rPr lang="en-US" sz="1600">
                <a:latin typeface="Aptos" panose="020B0004020202020204" pitchFamily="34" charset="0"/>
              </a:rPr>
              <a:t> (melakukan pencadangan data setiap 10 menit sekali)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Sistem operasi menggunakan </a:t>
            </a:r>
            <a:r>
              <a:rPr lang="en-US" sz="1600" b="1">
                <a:latin typeface="Aptos" panose="020B0004020202020204" pitchFamily="34" charset="0"/>
              </a:rPr>
              <a:t>Preemptive Priority Scheduling</a:t>
            </a:r>
            <a:r>
              <a:rPr lang="en-US" sz="1600">
                <a:latin typeface="Aptos" panose="020B0004020202020204" pitchFamily="34" charset="0"/>
              </a:rPr>
              <a:t>, di mana </a:t>
            </a:r>
            <a:r>
              <a:rPr lang="en-US" sz="1600" b="1">
                <a:latin typeface="Aptos" panose="020B0004020202020204" pitchFamily="34" charset="0"/>
              </a:rPr>
              <a:t>Database Server</a:t>
            </a:r>
            <a:r>
              <a:rPr lang="en-US" sz="1600">
                <a:latin typeface="Aptos" panose="020B0004020202020204" pitchFamily="34" charset="0"/>
              </a:rPr>
              <a:t> memiliki prioritas tertinggi, disusul </a:t>
            </a:r>
            <a:r>
              <a:rPr lang="en-US" sz="1600" b="1">
                <a:latin typeface="Aptos" panose="020B0004020202020204" pitchFamily="34" charset="0"/>
              </a:rPr>
              <a:t>Web Server</a:t>
            </a:r>
            <a:r>
              <a:rPr lang="en-US" sz="1600">
                <a:latin typeface="Aptos" panose="020B0004020202020204" pitchFamily="34" charset="0"/>
              </a:rPr>
              <a:t>, dan terakhir </a:t>
            </a:r>
            <a:r>
              <a:rPr lang="en-US" sz="1600" b="1">
                <a:latin typeface="Aptos" panose="020B0004020202020204" pitchFamily="34" charset="0"/>
              </a:rPr>
              <a:t>Backup Service</a:t>
            </a:r>
            <a:r>
              <a:rPr lang="en-US" sz="1600">
                <a:latin typeface="Aptos" panose="020B0004020202020204" pitchFamily="34" charset="0"/>
              </a:rPr>
              <a:t>. Namun, pada jam sibuk, administrator menemukan bahwa </a:t>
            </a:r>
            <a:r>
              <a:rPr lang="en-US" sz="1600" b="1">
                <a:latin typeface="Aptos" panose="020B0004020202020204" pitchFamily="34" charset="0"/>
              </a:rPr>
              <a:t>Web Server sering lambat merespons</a:t>
            </a:r>
            <a:r>
              <a:rPr lang="en-US" sz="1600">
                <a:latin typeface="Aptos" panose="020B0004020202020204" pitchFamily="34" charset="0"/>
              </a:rPr>
              <a:t>, sedangkan </a:t>
            </a:r>
            <a:r>
              <a:rPr lang="en-US" sz="1600" b="1">
                <a:latin typeface="Aptos" panose="020B0004020202020204" pitchFamily="34" charset="0"/>
              </a:rPr>
              <a:t>Backup Service</a:t>
            </a:r>
            <a:r>
              <a:rPr lang="en-US" sz="1600">
                <a:latin typeface="Aptos" panose="020B0004020202020204" pitchFamily="34" charset="0"/>
              </a:rPr>
              <a:t> hampir tidak pernah dijalankan tepat waktu.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>
                <a:latin typeface="Aptos" panose="020B0004020202020204" pitchFamily="34" charset="0"/>
              </a:rPr>
              <a:t>Pertanyaan:</a:t>
            </a:r>
            <a:endParaRPr lang="en-US" sz="1600">
              <a:latin typeface="Aptos" panose="020B00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>
                <a:latin typeface="Aptos" panose="020B0004020202020204" pitchFamily="34" charset="0"/>
              </a:rPr>
              <a:t>Berikan strategi atau modifikasi </a:t>
            </a:r>
            <a:r>
              <a:rPr lang="en-US" sz="1600" b="1">
                <a:solidFill>
                  <a:srgbClr val="FF0000"/>
                </a:solidFill>
                <a:latin typeface="Aptos" panose="020B0004020202020204" pitchFamily="34" charset="0"/>
              </a:rPr>
              <a:t>penjadwalan</a:t>
            </a:r>
            <a:r>
              <a:rPr lang="en-US" sz="1600">
                <a:latin typeface="Aptos" panose="020B0004020202020204" pitchFamily="34" charset="0"/>
              </a:rPr>
              <a:t> agar semua proses tetap mendapat jatah CPU secara adil tanpa mengorbankan performa layanan utama.</a:t>
            </a:r>
          </a:p>
        </p:txBody>
      </p:sp>
    </p:spTree>
    <p:extLst>
      <p:ext uri="{BB962C8B-B14F-4D97-AF65-F5344CB8AC3E}">
        <p14:creationId xmlns:p14="http://schemas.microsoft.com/office/powerpoint/2010/main" val="117606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3490" y="953764"/>
            <a:ext cx="105941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 suatu sistem operasi, terdapat lima proses yang sedang berjalan dengan rincian sbb:</a:t>
            </a:r>
            <a:endParaRPr lang="en-US" sz="2000" b="1">
              <a:solidFill>
                <a:schemeClr val="bg2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12495"/>
              </p:ext>
            </p:extLst>
          </p:nvPr>
        </p:nvGraphicFramePr>
        <p:xfrm>
          <a:off x="2752436" y="1516729"/>
          <a:ext cx="6299086" cy="2231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6279">
                  <a:extLst>
                    <a:ext uri="{9D8B030D-6E8A-4147-A177-3AD203B41FA5}">
                      <a16:colId xmlns:a16="http://schemas.microsoft.com/office/drawing/2014/main" val="552404560"/>
                    </a:ext>
                  </a:extLst>
                </a:gridCol>
                <a:gridCol w="2416833">
                  <a:extLst>
                    <a:ext uri="{9D8B030D-6E8A-4147-A177-3AD203B41FA5}">
                      <a16:colId xmlns:a16="http://schemas.microsoft.com/office/drawing/2014/main" val="2875454139"/>
                    </a:ext>
                  </a:extLst>
                </a:gridCol>
                <a:gridCol w="2275974">
                  <a:extLst>
                    <a:ext uri="{9D8B030D-6E8A-4147-A177-3AD203B41FA5}">
                      <a16:colId xmlns:a16="http://schemas.microsoft.com/office/drawing/2014/main" val="168245755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Process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Processing 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Arrival 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88690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A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6140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B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971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C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3090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D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7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9029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E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7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12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7662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3490" y="3972940"/>
            <a:ext cx="96427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Simulasikan dengan menggunakan </a:t>
            </a:r>
            <a:r>
              <a:rPr lang="en-US" sz="16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penjadwalan proses di atas dengan algoritma berikut ini:</a:t>
            </a:r>
            <a:endParaRPr lang="en-US" sz="16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sz="1600" b="1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Shortest Process Next</a:t>
            </a: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(SPN) </a:t>
            </a:r>
          </a:p>
          <a:p>
            <a:pPr marL="2857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sz="1600" b="1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Shortest Remaining Time</a:t>
            </a: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(SRT) </a:t>
            </a:r>
          </a:p>
          <a:p>
            <a:pPr marL="2857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sz="1600" b="1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Round-Robin</a:t>
            </a: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 = 5 </a:t>
            </a:r>
            <a:endParaRPr lang="en-US" sz="1600" b="1">
              <a:solidFill>
                <a:schemeClr val="bg2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7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74251" y="924209"/>
            <a:ext cx="1097280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>
                <a:latin typeface="Aptos" panose="020B0004020202020204" pitchFamily="34" charset="0"/>
              </a:rPr>
              <a:t>Sebuah </a:t>
            </a:r>
            <a:r>
              <a:rPr lang="en-US" sz="1500" b="1">
                <a:latin typeface="Aptos" panose="020B0004020202020204" pitchFamily="34" charset="0"/>
              </a:rPr>
              <a:t>aplikasi pemesanan tiket konser online</a:t>
            </a:r>
            <a:r>
              <a:rPr lang="en-US" sz="1500">
                <a:latin typeface="Aptos" panose="020B0004020202020204" pitchFamily="34" charset="0"/>
              </a:rPr>
              <a:t> mengelola dua sumber daya penting: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>
                <a:latin typeface="Aptos" panose="020B0004020202020204" pitchFamily="34" charset="0"/>
              </a:rPr>
              <a:t>Database Kursi</a:t>
            </a:r>
            <a:r>
              <a:rPr lang="en-US" sz="1500">
                <a:latin typeface="Aptos" panose="020B0004020202020204" pitchFamily="34" charset="0"/>
              </a:rPr>
              <a:t> (menyimpan status kursi tersedia/terisi)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>
                <a:latin typeface="Aptos" panose="020B0004020202020204" pitchFamily="34" charset="0"/>
              </a:rPr>
              <a:t>Database Pembayaran</a:t>
            </a:r>
            <a:r>
              <a:rPr lang="en-US" sz="1500">
                <a:latin typeface="Aptos" panose="020B0004020202020204" pitchFamily="34" charset="0"/>
              </a:rPr>
              <a:t> (menyimpan status transaksi berhasil/gagal)</a:t>
            </a:r>
          </a:p>
          <a:p>
            <a:pPr algn="just">
              <a:lnSpc>
                <a:spcPct val="150000"/>
              </a:lnSpc>
            </a:pPr>
            <a:r>
              <a:rPr lang="en-US" sz="1500">
                <a:latin typeface="Aptos" panose="020B0004020202020204" pitchFamily="34" charset="0"/>
              </a:rPr>
              <a:t>Setiap transaksi pembelian tiket dilakukan dengan langkah berikut oleh dua thread terpisah: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>
                <a:latin typeface="Aptos" panose="020B0004020202020204" pitchFamily="34" charset="0"/>
              </a:rPr>
              <a:t>Thread A</a:t>
            </a:r>
            <a:r>
              <a:rPr lang="en-US" sz="1500">
                <a:latin typeface="Aptos" panose="020B0004020202020204" pitchFamily="34" charset="0"/>
              </a:rPr>
              <a:t>: Mengunci (lock) Database Kursi terlebih dahulu, kemudian Database Pembayaran.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>
                <a:latin typeface="Aptos" panose="020B0004020202020204" pitchFamily="34" charset="0"/>
              </a:rPr>
              <a:t>Thread B</a:t>
            </a:r>
            <a:r>
              <a:rPr lang="en-US" sz="1500">
                <a:latin typeface="Aptos" panose="020B0004020202020204" pitchFamily="34" charset="0"/>
              </a:rPr>
              <a:t>: Mengunci (lock) Database Pembayaran terlebih dahulu, kemudian Database Kursi.</a:t>
            </a:r>
          </a:p>
          <a:p>
            <a:pPr algn="just">
              <a:lnSpc>
                <a:spcPct val="150000"/>
              </a:lnSpc>
            </a:pPr>
            <a:endParaRPr lang="en-US" sz="150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500">
                <a:latin typeface="Aptos" panose="020B0004020202020204" pitchFamily="34" charset="0"/>
              </a:rPr>
              <a:t>Namun, saat sistem melayani banyak transaksi bersamaan, server tiba-tiba </a:t>
            </a:r>
            <a:r>
              <a:rPr lang="en-US" sz="1500" b="1">
                <a:latin typeface="Aptos" panose="020B0004020202020204" pitchFamily="34" charset="0"/>
              </a:rPr>
              <a:t>berhenti merespons (hang)</a:t>
            </a:r>
            <a:r>
              <a:rPr lang="en-US" sz="1500">
                <a:latin typeface="Aptos" panose="020B0004020202020204" pitchFamily="34" charset="0"/>
              </a:rPr>
              <a:t> dan tidak ada transaksi yang dapat diproses lebih lanjut.</a:t>
            </a:r>
          </a:p>
          <a:p>
            <a:pPr algn="just">
              <a:lnSpc>
                <a:spcPct val="150000"/>
              </a:lnSpc>
            </a:pPr>
            <a:r>
              <a:rPr lang="en-US" sz="1500" b="1">
                <a:latin typeface="Aptos" panose="020B0004020202020204" pitchFamily="34" charset="0"/>
              </a:rPr>
              <a:t>Pertanyaan:</a:t>
            </a:r>
            <a:endParaRPr lang="en-US" sz="1500"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500">
                <a:latin typeface="Aptos" panose="020B0004020202020204" pitchFamily="34" charset="0"/>
              </a:rPr>
              <a:t>Jelaskan </a:t>
            </a:r>
            <a:r>
              <a:rPr lang="en-US" sz="1500" b="1">
                <a:latin typeface="Aptos" panose="020B0004020202020204" pitchFamily="34" charset="0"/>
              </a:rPr>
              <a:t>mengapa kondisi deadlock</a:t>
            </a:r>
            <a:r>
              <a:rPr lang="en-US" sz="1500">
                <a:latin typeface="Aptos" panose="020B0004020202020204" pitchFamily="34" charset="0"/>
              </a:rPr>
              <a:t> dapat terjadi pada kasus di atas, meskipun setiap thread hanya mengunci dua sumber daya.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500">
                <a:latin typeface="Aptos" panose="020B0004020202020204" pitchFamily="34" charset="0"/>
              </a:rPr>
              <a:t>Sebutkan </a:t>
            </a:r>
            <a:r>
              <a:rPr lang="en-US" sz="1500" b="1">
                <a:latin typeface="Aptos" panose="020B0004020202020204" pitchFamily="34" charset="0"/>
              </a:rPr>
              <a:t>dua strategi pencegahan atau penanganan deadlock</a:t>
            </a:r>
            <a:r>
              <a:rPr lang="en-US" sz="1500">
                <a:latin typeface="Aptos" panose="020B0004020202020204" pitchFamily="34" charset="0"/>
              </a:rPr>
              <a:t> yang dapat diterapkan oleh pengembang sistem, dan jelaskan cara kerjanya secara singkat.</a:t>
            </a:r>
          </a:p>
        </p:txBody>
      </p:sp>
    </p:spTree>
    <p:extLst>
      <p:ext uri="{BB962C8B-B14F-4D97-AF65-F5344CB8AC3E}">
        <p14:creationId xmlns:p14="http://schemas.microsoft.com/office/powerpoint/2010/main" val="1182355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3563" y="1164068"/>
            <a:ext cx="108157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Sebuah </a:t>
            </a:r>
            <a:r>
              <a:rPr lang="en-US" sz="1600" b="1">
                <a:latin typeface="Aptos" panose="020B0004020202020204" pitchFamily="34" charset="0"/>
              </a:rPr>
              <a:t>logging server</a:t>
            </a:r>
            <a:r>
              <a:rPr lang="en-US" sz="1600">
                <a:latin typeface="Aptos" panose="020B0004020202020204" pitchFamily="34" charset="0"/>
              </a:rPr>
              <a:t> mencatat setiap aktivitas pengguna dari beberapa thread berbeda.</a:t>
            </a:r>
            <a:br>
              <a:rPr lang="en-US" sz="1600">
                <a:latin typeface="Aptos" panose="020B0004020202020204" pitchFamily="34" charset="0"/>
              </a:rPr>
            </a:br>
            <a:r>
              <a:rPr lang="en-US" sz="1600">
                <a:latin typeface="Aptos" panose="020B0004020202020204" pitchFamily="34" charset="0"/>
              </a:rPr>
              <a:t>Untuk mencegah data log tumpang tindih (</a:t>
            </a:r>
            <a:r>
              <a:rPr lang="en-US" sz="1600" i="1">
                <a:latin typeface="Aptos" panose="020B0004020202020204" pitchFamily="34" charset="0"/>
              </a:rPr>
              <a:t>inconsistent</a:t>
            </a:r>
            <a:r>
              <a:rPr lang="en-US" sz="1600">
                <a:latin typeface="Aptos" panose="020B0004020202020204" pitchFamily="34" charset="0"/>
              </a:rPr>
              <a:t>), digunakan mekanisme </a:t>
            </a:r>
            <a:r>
              <a:rPr lang="en-US" sz="1600" b="1">
                <a:latin typeface="Aptos" panose="020B0004020202020204" pitchFamily="34" charset="0"/>
              </a:rPr>
              <a:t>spinlock</a:t>
            </a:r>
            <a:r>
              <a:rPr lang="en-US" sz="1600">
                <a:latin typeface="Aptos" panose="020B0004020202020204" pitchFamily="34" charset="0"/>
              </a:rPr>
              <a:t> sederhana sebagai berikut: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455" y="2305932"/>
            <a:ext cx="32696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// Variabel global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int lock = 0;  // 0 = bebas, 1 = terkunci</a:t>
            </a:r>
          </a:p>
          <a:p>
            <a:endParaRPr lang="en-US" sz="1400">
              <a:solidFill>
                <a:srgbClr val="FF0000"/>
              </a:solidFill>
              <a:latin typeface="Aptos Narrow" panose="020B00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void log_activity(char* msg) {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while (lock == 1);     // busy waiting (spin)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lock = 1;              // kunci diambil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write_to_file(msg);    // tulis log ke file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lock = 0;              // kunci dilepas</a:t>
            </a:r>
          </a:p>
          <a:p>
            <a:r>
              <a:rPr lang="en-US" sz="1400">
                <a:solidFill>
                  <a:srgbClr val="FF0000"/>
                </a:solidFill>
                <a:latin typeface="Aptos Narrow" panose="020B00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6436" y="2213568"/>
            <a:ext cx="7342909" cy="3380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Namun, ketika jumlah thread meningkat (misalnya &gt;100 thread aktif secara bersamaan), server menjadi </a:t>
            </a:r>
            <a:r>
              <a:rPr lang="en-US" sz="1600" b="1">
                <a:latin typeface="Aptos" panose="020B0004020202020204" pitchFamily="34" charset="0"/>
              </a:rPr>
              <a:t>lambat</a:t>
            </a:r>
            <a:r>
              <a:rPr lang="en-US" sz="1600">
                <a:latin typeface="Aptos" panose="020B0004020202020204" pitchFamily="34" charset="0"/>
              </a:rPr>
              <a:t> bahkan </a:t>
            </a:r>
            <a:r>
              <a:rPr lang="en-US" sz="1600" b="1">
                <a:latin typeface="Aptos" panose="020B0004020202020204" pitchFamily="34" charset="0"/>
              </a:rPr>
              <a:t>mengalami overheating CPU</a:t>
            </a:r>
            <a:r>
              <a:rPr lang="en-US" sz="1600">
                <a:latin typeface="Aptos" panose="020B0004020202020204" pitchFamily="34" charset="0"/>
              </a:rPr>
              <a:t>, meskipun semua log tetap berhasil dicatat tanpa konflik data.</a:t>
            </a:r>
          </a:p>
          <a:p>
            <a:pPr algn="just">
              <a:lnSpc>
                <a:spcPct val="150000"/>
              </a:lnSpc>
            </a:pPr>
            <a:r>
              <a:rPr lang="en-US" sz="1600" b="1">
                <a:latin typeface="Aptos" panose="020B0004020202020204" pitchFamily="34" charset="0"/>
              </a:rPr>
              <a:t>Pertanyaan: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Jelaskan </a:t>
            </a:r>
            <a:r>
              <a:rPr lang="en-US" sz="1600" b="1">
                <a:latin typeface="Aptos" panose="020B0004020202020204" pitchFamily="34" charset="0"/>
              </a:rPr>
              <a:t>mengapa spinlock dapat menyebabkan penurunan performa</a:t>
            </a:r>
            <a:r>
              <a:rPr lang="en-US" sz="1600">
                <a:latin typeface="Aptos" panose="020B0004020202020204" pitchFamily="34" charset="0"/>
              </a:rPr>
              <a:t> pada kasus di atas, terutama ketika jumlah thread meningkat.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Usulkan </a:t>
            </a:r>
            <a:r>
              <a:rPr lang="en-US" sz="1600" b="1">
                <a:latin typeface="Aptos" panose="020B0004020202020204" pitchFamily="34" charset="0"/>
              </a:rPr>
              <a:t>alternatif mekanisme sinkronisasi</a:t>
            </a:r>
            <a:r>
              <a:rPr lang="en-US" sz="1600">
                <a:latin typeface="Aptos" panose="020B0004020202020204" pitchFamily="34" charset="0"/>
              </a:rPr>
              <a:t> lain (misalnya </a:t>
            </a:r>
            <a:r>
              <a:rPr lang="en-US" sz="1600" i="1">
                <a:latin typeface="Aptos" panose="020B0004020202020204" pitchFamily="34" charset="0"/>
              </a:rPr>
              <a:t>mutex</a:t>
            </a:r>
            <a:r>
              <a:rPr lang="en-US" sz="1600">
                <a:latin typeface="Aptos" panose="020B0004020202020204" pitchFamily="34" charset="0"/>
              </a:rPr>
              <a:t> atau </a:t>
            </a:r>
            <a:r>
              <a:rPr lang="en-US" sz="1600" i="1">
                <a:latin typeface="Aptos" panose="020B0004020202020204" pitchFamily="34" charset="0"/>
              </a:rPr>
              <a:t>semaphore</a:t>
            </a:r>
            <a:r>
              <a:rPr lang="en-US" sz="1600">
                <a:latin typeface="Aptos" panose="020B0004020202020204" pitchFamily="34" charset="0"/>
              </a:rPr>
              <a:t>) yang lebih efisien untuk kasus logging ini, dan jelaskan alasan pemilihannya.</a:t>
            </a:r>
          </a:p>
        </p:txBody>
      </p:sp>
    </p:spTree>
    <p:extLst>
      <p:ext uri="{BB962C8B-B14F-4D97-AF65-F5344CB8AC3E}">
        <p14:creationId xmlns:p14="http://schemas.microsoft.com/office/powerpoint/2010/main" val="3903679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7382" y="953810"/>
            <a:ext cx="10575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Empat proses (P1, P2, P3, dan P4) berjalan pada sistem operasi yang mengelola empat sumber daya (R1, R2, R3, R4).</a:t>
            </a:r>
            <a:br>
              <a:rPr lang="en-US" sz="1600">
                <a:latin typeface="Aptos" panose="020B0004020202020204" pitchFamily="34" charset="0"/>
              </a:rPr>
            </a:br>
            <a:r>
              <a:rPr lang="en-US" sz="1600">
                <a:latin typeface="Aptos" panose="020B0004020202020204" pitchFamily="34" charset="0"/>
              </a:rPr>
              <a:t>Setiap proses membutuhkan dua resource secara berurutan: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392408"/>
              </p:ext>
            </p:extLst>
          </p:nvPr>
        </p:nvGraphicFramePr>
        <p:xfrm>
          <a:off x="949037" y="1978533"/>
          <a:ext cx="10515600" cy="1676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99480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2844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8125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Proses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Resource yang Diminta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Resource yang Dimiliki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37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3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6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536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63794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49037" y="3848659"/>
            <a:ext cx="10515600" cy="190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Terjadi kondisi di mana semua proses menunggu resource berikutnya, dan tidak ada yang bisa melanjutkan eksekusi.</a:t>
            </a:r>
          </a:p>
          <a:p>
            <a:pPr>
              <a:lnSpc>
                <a:spcPct val="150000"/>
              </a:lnSpc>
            </a:pPr>
            <a:r>
              <a:rPr lang="en-US" sz="1600" b="1">
                <a:latin typeface="Aptos" panose="020B0004020202020204" pitchFamily="34" charset="0"/>
              </a:rPr>
              <a:t>Pertanyaan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Jelaskan </a:t>
            </a:r>
            <a:r>
              <a:rPr lang="en-US" sz="1600" b="1">
                <a:latin typeface="Aptos" panose="020B0004020202020204" pitchFamily="34" charset="0"/>
              </a:rPr>
              <a:t>bagaimana circular wait terbentuk</a:t>
            </a:r>
            <a:r>
              <a:rPr lang="en-US" sz="1600">
                <a:latin typeface="Aptos" panose="020B0004020202020204" pitchFamily="34" charset="0"/>
              </a:rPr>
              <a:t> pada kasus ini dan tunjukkan urutan siklus yang terjadi.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Rancang </a:t>
            </a:r>
            <a:r>
              <a:rPr lang="en-US" sz="1600" b="1">
                <a:latin typeface="Aptos" panose="020B0004020202020204" pitchFamily="34" charset="0"/>
              </a:rPr>
              <a:t>strategi pencegahan circular wait</a:t>
            </a:r>
            <a:r>
              <a:rPr lang="en-US" sz="1600">
                <a:latin typeface="Aptos" panose="020B0004020202020204" pitchFamily="34" charset="0"/>
              </a:rPr>
              <a:t> dengan menggunakan kebijakan </a:t>
            </a:r>
            <a:r>
              <a:rPr lang="en-US" sz="1600" i="1">
                <a:latin typeface="Aptos" panose="020B0004020202020204" pitchFamily="34" charset="0"/>
              </a:rPr>
              <a:t>resource ordering</a:t>
            </a:r>
            <a:r>
              <a:rPr lang="en-US" sz="1600">
                <a:latin typeface="Aptos" panose="020B0004020202020204" pitchFamily="34" charset="0"/>
              </a:rPr>
              <a:t>, dan tunjukkan perubahan urutan alokasi resource yang diperlukan agar sistem bebas deadlock.</a:t>
            </a:r>
          </a:p>
        </p:txBody>
      </p:sp>
    </p:spTree>
    <p:extLst>
      <p:ext uri="{BB962C8B-B14F-4D97-AF65-F5344CB8AC3E}">
        <p14:creationId xmlns:p14="http://schemas.microsoft.com/office/powerpoint/2010/main" val="215239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6764" y="889153"/>
            <a:ext cx="102985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Sebuah aplikasi e-commerce menggunakan dua thread untuk mengelola stok produk: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Thread A:</a:t>
            </a:r>
            <a:r>
              <a:rPr lang="en-US" sz="1600">
                <a:latin typeface="Aptos" panose="020B0004020202020204" pitchFamily="34" charset="0"/>
              </a:rPr>
              <a:t> menambah stok ketika barang datang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ptos" panose="020B0004020202020204" pitchFamily="34" charset="0"/>
              </a:rPr>
              <a:t>Thread B:</a:t>
            </a:r>
            <a:r>
              <a:rPr lang="en-US" sz="1600">
                <a:latin typeface="Aptos" panose="020B0004020202020204" pitchFamily="34" charset="0"/>
              </a:rPr>
              <a:t> mengurangi stok ketika pembeli melakukan checkout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Kode sederhana berikut digunakan untuk memperbarui jumlah stok: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6764" y="2801358"/>
            <a:ext cx="2318327" cy="203132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FF0000"/>
                </a:solidFill>
              </a:rPr>
              <a:t>stock = 100</a:t>
            </a:r>
          </a:p>
          <a:p>
            <a:endParaRPr lang="en-US" sz="1400" i="1">
              <a:solidFill>
                <a:srgbClr val="FF0000"/>
              </a:solidFill>
            </a:endParaRPr>
          </a:p>
          <a:p>
            <a:r>
              <a:rPr lang="en-US" sz="1400" i="1">
                <a:solidFill>
                  <a:srgbClr val="FF0000"/>
                </a:solidFill>
              </a:rPr>
              <a:t>def add_stock():</a:t>
            </a:r>
          </a:p>
          <a:p>
            <a:r>
              <a:rPr lang="en-US" sz="1400" i="1">
                <a:solidFill>
                  <a:srgbClr val="FF0000"/>
                </a:solidFill>
              </a:rPr>
              <a:t>    for i in range(10):</a:t>
            </a:r>
          </a:p>
          <a:p>
            <a:r>
              <a:rPr lang="en-US" sz="1400" i="1">
                <a:solidFill>
                  <a:srgbClr val="FF0000"/>
                </a:solidFill>
              </a:rPr>
              <a:t>        stock = stock + 1</a:t>
            </a:r>
          </a:p>
          <a:p>
            <a:endParaRPr lang="en-US" sz="1400" i="1">
              <a:solidFill>
                <a:srgbClr val="FF0000"/>
              </a:solidFill>
            </a:endParaRPr>
          </a:p>
          <a:p>
            <a:r>
              <a:rPr lang="en-US" sz="1400" i="1">
                <a:solidFill>
                  <a:srgbClr val="FF0000"/>
                </a:solidFill>
              </a:rPr>
              <a:t>def reduce_stock():</a:t>
            </a:r>
          </a:p>
          <a:p>
            <a:r>
              <a:rPr lang="en-US" sz="1400" i="1">
                <a:solidFill>
                  <a:srgbClr val="FF0000"/>
                </a:solidFill>
              </a:rPr>
              <a:t>    for i in range(10):</a:t>
            </a:r>
          </a:p>
          <a:p>
            <a:r>
              <a:rPr lang="en-US" sz="1400" i="1">
                <a:solidFill>
                  <a:srgbClr val="FF0000"/>
                </a:solidFill>
              </a:rPr>
              <a:t>        stock = stock - 1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2182" y="2801358"/>
            <a:ext cx="79432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Aptos" panose="020B0004020202020204" pitchFamily="34" charset="0"/>
              </a:rPr>
              <a:t>Setelah kedua thread berjalan bersamaan sebanyak 10 kali, hasil akhir stock tidak selalu kembali ke 100.</a:t>
            </a:r>
            <a:endParaRPr lang="en-US" altLang="en-US" sz="1600" b="1"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latin typeface="Aptos" panose="020B0004020202020204" pitchFamily="34" charset="0"/>
              </a:rPr>
              <a:t>Pertanyaan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>
                <a:latin typeface="Aptos" panose="020B0004020202020204" pitchFamily="34" charset="0"/>
              </a:rPr>
              <a:t>Jelaskan </a:t>
            </a:r>
            <a:r>
              <a:rPr lang="en-US" altLang="en-US" sz="1600" b="1">
                <a:latin typeface="Aptos" panose="020B0004020202020204" pitchFamily="34" charset="0"/>
              </a:rPr>
              <a:t>mengapa hasil stok bisa berbeda-beda</a:t>
            </a:r>
            <a:r>
              <a:rPr lang="en-US" altLang="en-US" sz="1600">
                <a:latin typeface="Aptos" panose="020B0004020202020204" pitchFamily="34" charset="0"/>
              </a:rPr>
              <a:t> meskipun jumlah operasi tambah dan kurang sama.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>
                <a:latin typeface="Aptos" panose="020B0004020202020204" pitchFamily="34" charset="0"/>
              </a:rPr>
              <a:t>Tunjukkan </a:t>
            </a:r>
            <a:r>
              <a:rPr lang="en-US" altLang="en-US" sz="1600" b="1">
                <a:latin typeface="Aptos" panose="020B0004020202020204" pitchFamily="34" charset="0"/>
              </a:rPr>
              <a:t>solusi menggunakan mekanisme sinkronisasi</a:t>
            </a:r>
            <a:r>
              <a:rPr lang="en-US" altLang="en-US" sz="1600">
                <a:latin typeface="Aptos" panose="020B0004020202020204" pitchFamily="34" charset="0"/>
              </a:rPr>
              <a:t> (misalnya </a:t>
            </a:r>
            <a:r>
              <a:rPr lang="en-US" altLang="en-US" sz="1600" i="1">
                <a:latin typeface="Aptos" panose="020B0004020202020204" pitchFamily="34" charset="0"/>
              </a:rPr>
              <a:t>Lock</a:t>
            </a:r>
            <a:r>
              <a:rPr lang="en-US" altLang="en-US" sz="1600">
                <a:latin typeface="Aptos" panose="020B0004020202020204" pitchFamily="34" charset="0"/>
              </a:rPr>
              <a:t> atau </a:t>
            </a:r>
            <a:r>
              <a:rPr lang="en-US" altLang="en-US" sz="1600" i="1">
                <a:latin typeface="Aptos" panose="020B0004020202020204" pitchFamily="34" charset="0"/>
              </a:rPr>
              <a:t>Semaphore</a:t>
            </a:r>
            <a:r>
              <a:rPr lang="en-US" altLang="en-US" sz="1600">
                <a:latin typeface="Aptos" panose="020B0004020202020204" pitchFamily="34" charset="0"/>
              </a:rPr>
              <a:t>) agar nilai stok tetap konsisten di akhir eksekusi.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613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7600" y="639818"/>
            <a:ext cx="99475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Sebuah proses dalam sistem operasi dapat berada dalam salah satu dari </a:t>
            </a:r>
            <a:r>
              <a:rPr lang="en-US" b="1">
                <a:latin typeface="Aptos" panose="020B0004020202020204" pitchFamily="34" charset="0"/>
              </a:rPr>
              <a:t>lima state utama</a:t>
            </a:r>
            <a:r>
              <a:rPr lang="en-US">
                <a:latin typeface="Aptos" panose="020B0004020202020204" pitchFamily="34" charset="0"/>
              </a:rPr>
              <a:t>: </a:t>
            </a:r>
            <a:r>
              <a:rPr lang="en-US" i="1">
                <a:latin typeface="Aptos" panose="020B0004020202020204" pitchFamily="34" charset="0"/>
              </a:rPr>
              <a:t>New, Ready, Running, Waiting,</a:t>
            </a:r>
            <a:r>
              <a:rPr lang="en-US">
                <a:latin typeface="Aptos" panose="020B0004020202020204" pitchFamily="34" charset="0"/>
              </a:rPr>
              <a:t> dan </a:t>
            </a:r>
            <a:r>
              <a:rPr lang="en-US" i="1">
                <a:latin typeface="Aptos" panose="020B0004020202020204" pitchFamily="34" charset="0"/>
              </a:rPr>
              <a:t>Terminated</a:t>
            </a:r>
            <a:r>
              <a:rPr lang="en-US">
                <a:latin typeface="Aptos" panose="020B0004020202020204" pitchFamily="34" charset="0"/>
              </a:rPr>
              <a:t>. Perhatikan potongan log berikut dari sistem simulasi: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57347"/>
              </p:ext>
            </p:extLst>
          </p:nvPr>
        </p:nvGraphicFramePr>
        <p:xfrm>
          <a:off x="833582" y="1817818"/>
          <a:ext cx="10515600" cy="2438400"/>
        </p:xfrm>
        <a:graphic>
          <a:graphicData uri="http://schemas.openxmlformats.org/drawingml/2006/table">
            <a:tbl>
              <a:tblPr/>
              <a:tblGrid>
                <a:gridCol w="2085109">
                  <a:extLst>
                    <a:ext uri="{9D8B030D-6E8A-4147-A177-3AD203B41FA5}">
                      <a16:colId xmlns:a16="http://schemas.microsoft.com/office/drawing/2014/main" val="206727390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84956011"/>
                    </a:ext>
                  </a:extLst>
                </a:gridCol>
                <a:gridCol w="4874491">
                  <a:extLst>
                    <a:ext uri="{9D8B030D-6E8A-4147-A177-3AD203B41FA5}">
                      <a16:colId xmlns:a16="http://schemas.microsoft.com/office/drawing/2014/main" val="3579966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Waktu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Status Proses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Keterangan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531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NEW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Proses baru dibuat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50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Menunggu 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24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Sedang dieksekusi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074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WAITING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Menunggu I/O selesai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08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Setelah I/O selesai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58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Dilanjutkan eksekusi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08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TERMINATED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 panose="020B0004020202020204" pitchFamily="34" charset="0"/>
                        </a:rPr>
                        <a:t>Proses selesai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12385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17600" y="4612488"/>
            <a:ext cx="1016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Gambarkan </a:t>
            </a:r>
            <a:r>
              <a:rPr lang="en-US" sz="1600" b="1">
                <a:latin typeface="Aptos" panose="020B0004020202020204" pitchFamily="34" charset="0"/>
              </a:rPr>
              <a:t>diagram transisi state proses</a:t>
            </a:r>
            <a:r>
              <a:rPr lang="en-US" sz="1600">
                <a:latin typeface="Aptos" panose="020B0004020202020204" pitchFamily="34" charset="0"/>
              </a:rPr>
              <a:t> berdasarkan log di atas, dan jelaskan perubahan state yang terjadi di setiap waktu.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Aptos" panose="020B0004020202020204" pitchFamily="34" charset="0"/>
              </a:rPr>
              <a:t>Jelaskan </a:t>
            </a:r>
            <a:r>
              <a:rPr lang="en-US" sz="1600" b="1">
                <a:latin typeface="Aptos" panose="020B0004020202020204" pitchFamily="34" charset="0"/>
              </a:rPr>
              <a:t>peran scheduler</a:t>
            </a:r>
            <a:r>
              <a:rPr lang="en-US" sz="1600">
                <a:latin typeface="Aptos" panose="020B0004020202020204" pitchFamily="34" charset="0"/>
              </a:rPr>
              <a:t> dalam menentukan kapan proses berpindah dari </a:t>
            </a:r>
            <a:r>
              <a:rPr lang="en-US" sz="1600" i="1">
                <a:latin typeface="Aptos" panose="020B0004020202020204" pitchFamily="34" charset="0"/>
              </a:rPr>
              <a:t>READY → RUNNING</a:t>
            </a:r>
            <a:r>
              <a:rPr lang="en-US" sz="1600">
                <a:latin typeface="Aptos" panose="020B0004020202020204" pitchFamily="34" charset="0"/>
              </a:rPr>
              <a:t> dan dari </a:t>
            </a:r>
            <a:r>
              <a:rPr lang="en-US" sz="1600" i="1">
                <a:latin typeface="Aptos" panose="020B0004020202020204" pitchFamily="34" charset="0"/>
              </a:rPr>
              <a:t>WAITING → READY</a:t>
            </a:r>
            <a:r>
              <a:rPr lang="en-US" sz="1600">
                <a:latin typeface="Aptos" panose="020B0004020202020204" pitchFamily="34" charset="0"/>
              </a:rPr>
              <a:t>, serta faktor apa yang mempengaruhinya.</a:t>
            </a:r>
          </a:p>
        </p:txBody>
      </p:sp>
    </p:spTree>
    <p:extLst>
      <p:ext uri="{BB962C8B-B14F-4D97-AF65-F5344CB8AC3E}">
        <p14:creationId xmlns:p14="http://schemas.microsoft.com/office/powerpoint/2010/main" val="3447353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6001" y="409093"/>
            <a:ext cx="10381673" cy="2323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>
                <a:latin typeface="Aptos" panose="020B0004020202020204" pitchFamily="34" charset="0"/>
              </a:rPr>
              <a:t>Deskripsi Kasus</a:t>
            </a:r>
          </a:p>
          <a:p>
            <a:pPr algn="just">
              <a:lnSpc>
                <a:spcPct val="150000"/>
              </a:lnSpc>
            </a:pPr>
            <a:r>
              <a:rPr lang="en-US" sz="1400">
                <a:latin typeface="Aptos" panose="020B0004020202020204" pitchFamily="34" charset="0"/>
              </a:rPr>
              <a:t>Sebuah aplikasi </a:t>
            </a:r>
            <a:r>
              <a:rPr lang="en-US" sz="1400" b="1">
                <a:latin typeface="Aptos" panose="020B0004020202020204" pitchFamily="34" charset="0"/>
              </a:rPr>
              <a:t>chat server sederhana</a:t>
            </a:r>
            <a:r>
              <a:rPr lang="en-US" sz="1400">
                <a:latin typeface="Aptos" panose="020B0004020202020204" pitchFamily="34" charset="0"/>
              </a:rPr>
              <a:t> menggunakan dua proses: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latin typeface="Aptos" panose="020B0004020202020204" pitchFamily="34" charset="0"/>
              </a:rPr>
              <a:t>Process A (Sender)</a:t>
            </a:r>
            <a:r>
              <a:rPr lang="en-US" sz="1400">
                <a:latin typeface="Aptos" panose="020B0004020202020204" pitchFamily="34" charset="0"/>
              </a:rPr>
              <a:t> untuk mengirim pesan.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latin typeface="Aptos" panose="020B0004020202020204" pitchFamily="34" charset="0"/>
              </a:rPr>
              <a:t>Process B (Receiver)</a:t>
            </a:r>
            <a:r>
              <a:rPr lang="en-US" sz="1400">
                <a:latin typeface="Aptos" panose="020B0004020202020204" pitchFamily="34" charset="0"/>
              </a:rPr>
              <a:t> untuk menerima pesan.</a:t>
            </a:r>
          </a:p>
          <a:p>
            <a:pPr algn="just">
              <a:lnSpc>
                <a:spcPct val="150000"/>
              </a:lnSpc>
            </a:pPr>
            <a:endParaRPr lang="en-US" sz="140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>
                <a:latin typeface="Aptos" panose="020B0004020202020204" pitchFamily="34" charset="0"/>
              </a:rPr>
              <a:t>Komunikasi antar proses dilakukan dengan </a:t>
            </a:r>
            <a:r>
              <a:rPr lang="en-US" sz="1400" b="1">
                <a:latin typeface="Aptos" panose="020B0004020202020204" pitchFamily="34" charset="0"/>
              </a:rPr>
              <a:t>message passing (send–receive mechanism)</a:t>
            </a:r>
            <a:r>
              <a:rPr lang="en-US" sz="1400">
                <a:latin typeface="Aptos" panose="020B0004020202020204" pitchFamily="34" charset="0"/>
              </a:rPr>
              <a:t> tanpa shared memory. Pseudocode berikut digunakan: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1" y="3096783"/>
            <a:ext cx="265083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FF0000"/>
                </a:solidFill>
              </a:rPr>
              <a:t>// Process A - Sender</a:t>
            </a:r>
          </a:p>
          <a:p>
            <a:r>
              <a:rPr lang="en-US" sz="1400" i="1">
                <a:solidFill>
                  <a:srgbClr val="FF0000"/>
                </a:solidFill>
              </a:rPr>
              <a:t>message msg = "Hello from A";</a:t>
            </a:r>
          </a:p>
          <a:p>
            <a:r>
              <a:rPr lang="en-US" sz="1400" i="1">
                <a:solidFill>
                  <a:srgbClr val="FF0000"/>
                </a:solidFill>
              </a:rPr>
              <a:t>send(msg, B);</a:t>
            </a:r>
          </a:p>
          <a:p>
            <a:endParaRPr lang="en-US" sz="1400" i="1">
              <a:solidFill>
                <a:srgbClr val="FF0000"/>
              </a:solidFill>
            </a:endParaRPr>
          </a:p>
          <a:p>
            <a:r>
              <a:rPr lang="en-US" sz="1400" i="1">
                <a:solidFill>
                  <a:srgbClr val="FF0000"/>
                </a:solidFill>
              </a:rPr>
              <a:t>// Process B - Receiver</a:t>
            </a:r>
          </a:p>
          <a:p>
            <a:r>
              <a:rPr lang="en-US" sz="1400" i="1">
                <a:solidFill>
                  <a:srgbClr val="FF0000"/>
                </a:solidFill>
              </a:rPr>
              <a:t>receive(msg);</a:t>
            </a:r>
          </a:p>
          <a:p>
            <a:r>
              <a:rPr lang="en-US" sz="1400" i="1">
                <a:solidFill>
                  <a:srgbClr val="FF0000"/>
                </a:solidFill>
              </a:rPr>
              <a:t>print(msg);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5380" y="2513479"/>
            <a:ext cx="7232073" cy="1677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ptos" panose="020B0004020202020204" pitchFamily="34" charset="0"/>
              </a:rPr>
              <a:t>Pada awalnya, sistem bekerja dengan baik. Namun, ketika beberapa pengirim (A1, A2, A3) mengirim pesan ke B </a:t>
            </a:r>
            <a:r>
              <a:rPr lang="en-US" sz="1400" b="1">
                <a:latin typeface="Aptos" panose="020B0004020202020204" pitchFamily="34" charset="0"/>
              </a:rPr>
              <a:t>secara bersamaan</a:t>
            </a:r>
            <a:r>
              <a:rPr lang="en-US" sz="1400">
                <a:latin typeface="Aptos" panose="020B0004020202020204" pitchFamily="34" charset="0"/>
              </a:rPr>
              <a:t>, kadang terjadi:</a:t>
            </a:r>
          </a:p>
          <a:p>
            <a:pPr marL="285750" indent="-1936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Pesan tertukar antar pengguna,</a:t>
            </a:r>
          </a:p>
          <a:p>
            <a:pPr marL="285750" indent="-1936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Pesan hilang, atau</a:t>
            </a:r>
          </a:p>
          <a:p>
            <a:pPr marL="285750" indent="-1936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ptos" panose="020B0004020202020204" pitchFamily="34" charset="0"/>
              </a:rPr>
              <a:t>Process B menunggu lama meskipun pesan sudah dikirim.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4971718"/>
            <a:ext cx="103816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latin typeface="Aptos" panose="020B0004020202020204" pitchFamily="34" charset="0"/>
              </a:rPr>
              <a:t>Jelaskan </a:t>
            </a:r>
            <a:r>
              <a:rPr lang="en-US" sz="1400" b="1">
                <a:latin typeface="Aptos" panose="020B0004020202020204" pitchFamily="34" charset="0"/>
              </a:rPr>
              <a:t>penyebab terjadinya masalah komunikasi</a:t>
            </a:r>
            <a:r>
              <a:rPr lang="en-US" sz="1400">
                <a:latin typeface="Aptos" panose="020B0004020202020204" pitchFamily="34" charset="0"/>
              </a:rPr>
              <a:t> pada sistem di atas dalam konteks </a:t>
            </a:r>
            <a:r>
              <a:rPr lang="en-US" sz="1400" i="1">
                <a:latin typeface="Aptos" panose="020B0004020202020204" pitchFamily="34" charset="0"/>
              </a:rPr>
              <a:t>synchronous</a:t>
            </a:r>
            <a:r>
              <a:rPr lang="en-US" sz="1400">
                <a:latin typeface="Aptos" panose="020B0004020202020204" pitchFamily="34" charset="0"/>
              </a:rPr>
              <a:t> dan </a:t>
            </a:r>
            <a:r>
              <a:rPr lang="en-US" sz="1400" i="1">
                <a:latin typeface="Aptos" panose="020B0004020202020204" pitchFamily="34" charset="0"/>
              </a:rPr>
              <a:t>asynchronous message passing</a:t>
            </a:r>
            <a:r>
              <a:rPr lang="en-US" sz="1400">
                <a:latin typeface="Aptos" panose="020B0004020202020204" pitchFamily="34" charset="0"/>
              </a:rPr>
              <a:t>. (Analisis apa yang menyebabkan pesan hilang, tertukar, atau delay terjadi.)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latin typeface="Aptos" panose="020B0004020202020204" pitchFamily="34" charset="0"/>
              </a:rPr>
              <a:t>Usulkan </a:t>
            </a:r>
            <a:r>
              <a:rPr lang="en-US" sz="1400" b="1">
                <a:latin typeface="Aptos" panose="020B0004020202020204" pitchFamily="34" charset="0"/>
              </a:rPr>
              <a:t>perbaikan rancangan message passing</a:t>
            </a:r>
            <a:r>
              <a:rPr lang="en-US" sz="1400">
                <a:latin typeface="Aptos" panose="020B0004020202020204" pitchFamily="34" charset="0"/>
              </a:rPr>
              <a:t> agar komunikasi menjadi lebih andal — misalnya dengan: Penambahan </a:t>
            </a:r>
            <a:r>
              <a:rPr lang="en-US" sz="1400" b="1">
                <a:latin typeface="Aptos" panose="020B0004020202020204" pitchFamily="34" charset="0"/>
              </a:rPr>
              <a:t>queue</a:t>
            </a:r>
            <a:r>
              <a:rPr lang="en-US" sz="1400">
                <a:latin typeface="Aptos" panose="020B0004020202020204" pitchFamily="34" charset="0"/>
              </a:rPr>
              <a:t> untuk antrian pesan.</a:t>
            </a:r>
          </a:p>
        </p:txBody>
      </p:sp>
    </p:spTree>
    <p:extLst>
      <p:ext uri="{BB962C8B-B14F-4D97-AF65-F5344CB8AC3E}">
        <p14:creationId xmlns:p14="http://schemas.microsoft.com/office/powerpoint/2010/main" val="2208277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8982" y="612385"/>
            <a:ext cx="10002982" cy="4933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>
                <a:latin typeface="Aptos" panose="020B0004020202020204" pitchFamily="34" charset="0"/>
              </a:rPr>
              <a:t>Sebuah sistem </a:t>
            </a:r>
            <a:r>
              <a:rPr lang="en-US" sz="2000" i="1">
                <a:latin typeface="Aptos" panose="020B0004020202020204" pitchFamily="34" charset="0"/>
              </a:rPr>
              <a:t>sensor monitoring</a:t>
            </a:r>
            <a:r>
              <a:rPr lang="en-US" sz="2000">
                <a:latin typeface="Aptos" panose="020B0004020202020204" pitchFamily="34" charset="0"/>
              </a:rPr>
              <a:t> terdiri dari beberapa node IoT yang terus mengirimkan data ke </a:t>
            </a:r>
            <a:r>
              <a:rPr lang="en-US" sz="2000" b="1">
                <a:latin typeface="Aptos" panose="020B0004020202020204" pitchFamily="34" charset="0"/>
              </a:rPr>
              <a:t>Central Controller (CC)</a:t>
            </a:r>
            <a:r>
              <a:rPr lang="en-US" sz="2000">
                <a:latin typeface="Aptos" panose="020B0004020202020204" pitchFamily="34" charset="0"/>
              </a:rPr>
              <a:t> menggunakan </a:t>
            </a:r>
            <a:r>
              <a:rPr lang="en-US" sz="2000" i="1">
                <a:latin typeface="Aptos" panose="020B0004020202020204" pitchFamily="34" charset="0"/>
              </a:rPr>
              <a:t>message passing asynchronous</a:t>
            </a:r>
            <a:r>
              <a:rPr lang="en-US" sz="2000">
                <a:latin typeface="Aptos" panose="020B0004020202020204" pitchFamily="34" charset="0"/>
              </a:rPr>
              <a:t>.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 panose="020B0004020202020204" pitchFamily="34" charset="0"/>
              </a:rPr>
              <a:t>Ketika lalu lintas data tinggi, beberapa pesan sensor tidak pernah diterima oleh CC.</a:t>
            </a:r>
          </a:p>
          <a:p>
            <a:pPr algn="just">
              <a:lnSpc>
                <a:spcPct val="200000"/>
              </a:lnSpc>
            </a:pPr>
            <a:r>
              <a:rPr lang="en-US" sz="2000" b="1">
                <a:latin typeface="Aptos" panose="020B0004020202020204" pitchFamily="34" charset="0"/>
              </a:rPr>
              <a:t>Pertanyaan:</a:t>
            </a:r>
            <a:endParaRPr lang="en-US" sz="2000"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>
                <a:latin typeface="Aptos" panose="020B0004020202020204" pitchFamily="34" charset="0"/>
              </a:rPr>
              <a:t>Jelaskan </a:t>
            </a:r>
            <a:r>
              <a:rPr lang="en-US" sz="2000" b="1">
                <a:latin typeface="Aptos" panose="020B0004020202020204" pitchFamily="34" charset="0"/>
              </a:rPr>
              <a:t>hubungan antara buffer capacity dan kehilangan pesan (message loss)</a:t>
            </a:r>
            <a:r>
              <a:rPr lang="en-US" sz="2000">
                <a:latin typeface="Aptos" panose="020B0004020202020204" pitchFamily="34" charset="0"/>
              </a:rPr>
              <a:t> pada </a:t>
            </a:r>
            <a:r>
              <a:rPr lang="en-US" sz="2000" i="1">
                <a:latin typeface="Aptos" panose="020B0004020202020204" pitchFamily="34" charset="0"/>
              </a:rPr>
              <a:t>asynchronous message passing</a:t>
            </a:r>
            <a:r>
              <a:rPr lang="en-US" sz="2000">
                <a:latin typeface="Aptos" panose="020B0004020202020204" pitchFamily="34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000">
                <a:latin typeface="Aptos" panose="020B0004020202020204" pitchFamily="34" charset="0"/>
              </a:rPr>
              <a:t>Bagaimana </a:t>
            </a:r>
            <a:r>
              <a:rPr lang="en-US" sz="2000" b="1">
                <a:latin typeface="Aptos" panose="020B0004020202020204" pitchFamily="34" charset="0"/>
              </a:rPr>
              <a:t>blocking vs non-blocking send/receive</a:t>
            </a:r>
            <a:r>
              <a:rPr lang="en-US" sz="2000">
                <a:latin typeface="Aptos" panose="020B0004020202020204" pitchFamily="34" charset="0"/>
              </a:rPr>
              <a:t> memengaruhi keandalan sistem dalam kasus ini?</a:t>
            </a:r>
          </a:p>
        </p:txBody>
      </p:sp>
    </p:spTree>
    <p:extLst>
      <p:ext uri="{BB962C8B-B14F-4D97-AF65-F5344CB8AC3E}">
        <p14:creationId xmlns:p14="http://schemas.microsoft.com/office/powerpoint/2010/main" val="95287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1777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Narrow</vt:lpstr>
      <vt:lpstr>Arial</vt:lpstr>
      <vt:lpstr>Calibri</vt:lpstr>
      <vt:lpstr>Calibri Light</vt:lpstr>
      <vt:lpstr>Wingdings</vt:lpstr>
      <vt:lpstr>Office Theme</vt:lpstr>
      <vt:lpstr>Operating System</vt:lpstr>
      <vt:lpstr>Essai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QUIS – Operating System</dc:title>
  <dc:creator>Muhammad Ihsan Arief Nurhakim</dc:creator>
  <cp:lastModifiedBy>Stanley Wijaya</cp:lastModifiedBy>
  <cp:revision>7</cp:revision>
  <dcterms:created xsi:type="dcterms:W3CDTF">2025-10-30T02:00:11Z</dcterms:created>
  <dcterms:modified xsi:type="dcterms:W3CDTF">2025-11-05T03:52:57Z</dcterms:modified>
</cp:coreProperties>
</file>